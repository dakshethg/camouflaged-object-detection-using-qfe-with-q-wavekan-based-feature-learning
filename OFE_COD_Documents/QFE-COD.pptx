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12" r:id="rId4"/>
  </p:sldMasterIdLst>
  <p:sldIdLst>
    <p:sldId id="257" r:id="rId5"/>
    <p:sldId id="261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80"/>
  </p:normalViewPr>
  <p:slideViewPr>
    <p:cSldViewPr snapToGrid="0" snapToObjects="1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7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72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7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8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48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79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8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0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4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3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76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67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690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685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3454400"/>
            <a:ext cx="10815942" cy="1228262"/>
          </a:xfrm>
        </p:spPr>
        <p:txBody>
          <a:bodyPr>
            <a:noAutofit/>
          </a:bodyPr>
          <a:lstStyle/>
          <a:p>
            <a:r>
              <a:rPr lang="en-US" sz="4800" dirty="0"/>
              <a:t>QFE-COD: Camouflaged Object Detection Using Quantum Frequency Enhancement with Q-</a:t>
            </a:r>
            <a:r>
              <a:rPr lang="en-US" sz="4800" dirty="0" err="1"/>
              <a:t>WaveKAN</a:t>
            </a:r>
            <a:r>
              <a:rPr lang="en-US" sz="4800" dirty="0"/>
              <a:t>-Based Feature Learning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9CA982C5-8822-5F41-B151-CBFC3278D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458" y="5254172"/>
            <a:ext cx="10885714" cy="174171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BC</a:t>
            </a:r>
            <a:r>
              <a:rPr lang="en-US" b="1" dirty="0"/>
              <a:t>SE498J – Project II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Bachelor of Technology in Computer Science and Engineering</a:t>
            </a:r>
            <a:br>
              <a:rPr lang="en-US" dirty="0"/>
            </a:br>
            <a:r>
              <a:rPr lang="en-US" dirty="0"/>
              <a:t>Student: </a:t>
            </a:r>
            <a:r>
              <a:rPr lang="en-US" dirty="0" err="1"/>
              <a:t>Daksheth</a:t>
            </a:r>
            <a:r>
              <a:rPr lang="en-US" dirty="0"/>
              <a:t> G (Reg. No. 22BCE0905)</a:t>
            </a:r>
            <a:br>
              <a:rPr lang="en-US" dirty="0"/>
            </a:br>
            <a:r>
              <a:rPr lang="en-US" dirty="0"/>
              <a:t>Guide: </a:t>
            </a:r>
            <a:r>
              <a:rPr lang="en-US" dirty="0" err="1"/>
              <a:t>Sathya</a:t>
            </a:r>
            <a:r>
              <a:rPr lang="en-US" dirty="0"/>
              <a:t> K, Assistant Professor Sr. Grade 2, SCOPE</a:t>
            </a:r>
            <a:br>
              <a:rPr lang="en-US" dirty="0"/>
            </a:br>
            <a:r>
              <a:rPr lang="en-US" dirty="0"/>
              <a:t>Vellore Institute of Technology | April </a:t>
            </a:r>
            <a:r>
              <a:rPr lang="en-US" dirty="0" smtClean="0"/>
              <a:t>2026</a:t>
            </a:r>
            <a:br>
              <a:rPr lang="en-US" dirty="0" smtClean="0"/>
            </a:br>
            <a:r>
              <a:rPr lang="en-US" dirty="0" err="1" smtClean="0"/>
              <a:t>Mentor:Balakrishnan</a:t>
            </a:r>
            <a:r>
              <a:rPr lang="en-US" dirty="0" smtClean="0"/>
              <a:t> N  , </a:t>
            </a:r>
            <a:r>
              <a:rPr lang="en-US" dirty="0" err="1" smtClean="0"/>
              <a:t>Greynuim</a:t>
            </a:r>
            <a:r>
              <a:rPr lang="en-US" dirty="0" smtClean="0"/>
              <a:t> Technologies (</a:t>
            </a:r>
            <a:r>
              <a:rPr lang="en-US" dirty="0" err="1" smtClean="0"/>
              <a:t>OneIndia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2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Synopsis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585" y="2711814"/>
            <a:ext cx="10554574" cy="36365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Camouflaged Object </a:t>
            </a:r>
            <a:r>
              <a:rPr lang="en-US" dirty="0"/>
              <a:t>Detection (COD) presents a unique challenge in computer vision where targets blend seamlessly with backgrounds through color, texture, and edge similarity. QFE-COD introduces a novel deep learning framework that integrates quantum-classical hybrid processing with multi-scale frequency domain </a:t>
            </a:r>
            <a:r>
              <a:rPr lang="en-US" dirty="0" smtClean="0"/>
              <a:t>analysis</a:t>
            </a:r>
          </a:p>
          <a:p>
            <a:r>
              <a:rPr lang="en-US" b="1" dirty="0"/>
              <a:t>CAM/</a:t>
            </a:r>
            <a:r>
              <a:rPr lang="en-US" b="1" dirty="0" err="1"/>
              <a:t>NonCAM</a:t>
            </a:r>
            <a:r>
              <a:rPr lang="en-US" b="1" dirty="0"/>
              <a:t> Binary </a:t>
            </a:r>
            <a:r>
              <a:rPr lang="en-US" b="1" dirty="0" smtClean="0"/>
              <a:t>Classifier - </a:t>
            </a:r>
            <a:r>
              <a:rPr lang="en-US" dirty="0" smtClean="0"/>
              <a:t>PVTv2-B2 </a:t>
            </a:r>
            <a:r>
              <a:rPr lang="en-US" dirty="0"/>
              <a:t>backbone achieves 94.23% validation accuracy on </a:t>
            </a:r>
            <a:r>
              <a:rPr lang="en-US" dirty="0" smtClean="0"/>
              <a:t>COD10K-v3.</a:t>
            </a:r>
          </a:p>
          <a:p>
            <a:r>
              <a:rPr lang="en-US" b="1" dirty="0"/>
              <a:t>QFE-COD Segmentation </a:t>
            </a:r>
            <a:r>
              <a:rPr lang="en-US" b="1" dirty="0" smtClean="0"/>
              <a:t>Model-</a:t>
            </a:r>
            <a:r>
              <a:rPr lang="en-US" dirty="0" smtClean="0"/>
              <a:t>PVTv2-B4 </a:t>
            </a:r>
            <a:r>
              <a:rPr lang="en-US" dirty="0"/>
              <a:t>+ DWT + FSA + 8-qubit HQCM + FPN-Mamba + </a:t>
            </a:r>
            <a:r>
              <a:rPr lang="en-US" dirty="0" smtClean="0"/>
              <a:t>Q-</a:t>
            </a:r>
            <a:r>
              <a:rPr lang="en-US" dirty="0" err="1" smtClean="0"/>
              <a:t>WaveKAN</a:t>
            </a:r>
            <a:endParaRPr lang="en-US" dirty="0" smtClean="0"/>
          </a:p>
          <a:p>
            <a:r>
              <a:rPr lang="en-US" b="1" dirty="0"/>
              <a:t>SINetV2 Baseline </a:t>
            </a:r>
            <a:r>
              <a:rPr lang="en-US" b="1" dirty="0" smtClean="0"/>
              <a:t>Comparison - </a:t>
            </a:r>
            <a:r>
              <a:rPr lang="en-US" dirty="0" smtClean="0"/>
              <a:t>Traditional </a:t>
            </a:r>
            <a:r>
              <a:rPr lang="en-US" dirty="0"/>
              <a:t>deep learning benchmark for performance </a:t>
            </a:r>
            <a:r>
              <a:rPr lang="en-US" dirty="0" smtClean="0"/>
              <a:t>evaluation</a:t>
            </a:r>
            <a:endParaRPr lang="en-US" dirty="0"/>
          </a:p>
          <a:p>
            <a:r>
              <a:rPr lang="en-US" b="1" dirty="0" smtClean="0"/>
              <a:t>Dataset</a:t>
            </a:r>
            <a:r>
              <a:rPr lang="en-US" b="1" dirty="0"/>
              <a:t>:</a:t>
            </a:r>
            <a:r>
              <a:rPr lang="en-US" dirty="0"/>
              <a:t> COD10K-v3 — 6000 train, 4000 test images</a:t>
            </a:r>
            <a:br>
              <a:rPr lang="en-US" dirty="0"/>
            </a:br>
            <a:r>
              <a:rPr lang="en-US" b="1" dirty="0"/>
              <a:t>Best Performance:</a:t>
            </a:r>
            <a:r>
              <a:rPr lang="en-US" dirty="0"/>
              <a:t> Dice 0.7889 | </a:t>
            </a:r>
            <a:r>
              <a:rPr lang="en-US" dirty="0" err="1"/>
              <a:t>IoU</a:t>
            </a:r>
            <a:r>
              <a:rPr lang="en-US" dirty="0"/>
              <a:t> 0.7402 (Epoch 28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6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585" y="2711814"/>
            <a:ext cx="10554574" cy="36365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COD fundamentally differs from salient object detection: targets </a:t>
            </a:r>
            <a:r>
              <a:rPr lang="en-US" dirty="0" smtClean="0"/>
              <a:t>are specifically </a:t>
            </a:r>
            <a:r>
              <a:rPr lang="en-US" dirty="0"/>
              <a:t>designed to evade detection through sophisticated blending mechanisms. The field traces its roots to military aerial reconnaissance during World War I, evolving through hand-crafted features like SIFT and HOG.</a:t>
            </a:r>
          </a:p>
          <a:p>
            <a:r>
              <a:rPr lang="en-US" b="1" dirty="0"/>
              <a:t>WWI </a:t>
            </a:r>
            <a:r>
              <a:rPr lang="en-US" b="1" dirty="0" smtClean="0"/>
              <a:t>Era -</a:t>
            </a:r>
            <a:r>
              <a:rPr lang="en-US" dirty="0" smtClean="0"/>
              <a:t>Military </a:t>
            </a:r>
            <a:r>
              <a:rPr lang="en-US" dirty="0"/>
              <a:t>aerial reconnaissance establishes camouflage detection</a:t>
            </a:r>
          </a:p>
          <a:p>
            <a:r>
              <a:rPr lang="en-US" b="1" dirty="0" smtClean="0"/>
              <a:t>2020 -</a:t>
            </a:r>
            <a:r>
              <a:rPr lang="en-US" dirty="0" err="1" smtClean="0"/>
              <a:t>SINet</a:t>
            </a:r>
            <a:r>
              <a:rPr lang="en-US" dirty="0" smtClean="0"/>
              <a:t> </a:t>
            </a:r>
            <a:r>
              <a:rPr lang="en-US" dirty="0"/>
              <a:t>(CVPR) + COD10K benchmark by Fan et al.</a:t>
            </a:r>
          </a:p>
          <a:p>
            <a:r>
              <a:rPr lang="en-US" b="1" dirty="0" smtClean="0"/>
              <a:t>2022 -</a:t>
            </a:r>
            <a:r>
              <a:rPr lang="en-US" dirty="0" smtClean="0"/>
              <a:t>SINetV2 </a:t>
            </a:r>
            <a:r>
              <a:rPr lang="en-US" dirty="0"/>
              <a:t>(IEEE TPAMI) introduces NCD and GRA modules</a:t>
            </a:r>
          </a:p>
          <a:p>
            <a:r>
              <a:rPr lang="en-US" b="1" dirty="0" smtClean="0"/>
              <a:t>2024 -</a:t>
            </a:r>
            <a:r>
              <a:rPr lang="en-US" dirty="0" smtClean="0"/>
              <a:t>QFE-COD </a:t>
            </a:r>
            <a:r>
              <a:rPr lang="en-US" dirty="0"/>
              <a:t>integrates quantum frequency processing</a:t>
            </a:r>
          </a:p>
          <a:p>
            <a:pPr marL="0" indent="0">
              <a:buNone/>
            </a:pPr>
            <a:r>
              <a:rPr lang="en-US" b="1" dirty="0"/>
              <a:t>Key Insight:</a:t>
            </a:r>
            <a:r>
              <a:rPr lang="en-US" dirty="0"/>
              <a:t> Camouflaged objects differ most in mid-frequency features, not gross color or structure. This motivates frequency-domain processing combined with quantum computing (VQCs via </a:t>
            </a:r>
            <a:r>
              <a:rPr lang="en-US" dirty="0" err="1"/>
              <a:t>PennyLane</a:t>
            </a:r>
            <a:r>
              <a:rPr lang="en-US" dirty="0"/>
              <a:t>) and the emerging KAN neural network paradigm.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78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System Architecture — QFE-COD </a:t>
            </a:r>
            <a:r>
              <a:rPr lang="en-US" dirty="0" smtClean="0"/>
              <a:t>Pipeline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9023" y="2411480"/>
            <a:ext cx="2935595" cy="39369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5709" y="2050473"/>
            <a:ext cx="7777018" cy="4590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Overview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Three-stage end-to-end pipeline: CAM/</a:t>
            </a:r>
            <a:r>
              <a:rPr lang="en-US" dirty="0" err="1"/>
              <a:t>NonCAM</a:t>
            </a:r>
            <a:r>
              <a:rPr lang="en-US" dirty="0"/>
              <a:t> classification → QFE-COD segmentation → output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Input: RGB images resized to 352×352</a:t>
            </a:r>
          </a:p>
          <a:p>
            <a:r>
              <a:rPr lang="en-US" b="1" dirty="0"/>
              <a:t>Stage 1 — Backbone (PVTv2-B4)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Pyramid Vision Transformer extracts 4 hierarchical feature maps: F1[64], F2[128], F3[320], F4[512]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Captures both fine-grained and high-level semantic features</a:t>
            </a:r>
          </a:p>
          <a:p>
            <a:r>
              <a:rPr lang="en-US" b="1" dirty="0"/>
              <a:t>Stage 2 — Frequency Branch (Left path)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DWT Decomposition: </a:t>
            </a:r>
            <a:r>
              <a:rPr lang="en-US" dirty="0" err="1"/>
              <a:t>Haar</a:t>
            </a:r>
            <a:r>
              <a:rPr lang="en-US" dirty="0"/>
              <a:t> wavelet decomposes F4 into 4 </a:t>
            </a:r>
            <a:r>
              <a:rPr lang="en-US" dirty="0" err="1"/>
              <a:t>subbands</a:t>
            </a:r>
            <a:r>
              <a:rPr lang="en-US" dirty="0"/>
              <a:t> — LL, LH, HL, HH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FSA (Frequency Self-Attention): Pools </a:t>
            </a:r>
            <a:r>
              <a:rPr lang="en-US" dirty="0" err="1"/>
              <a:t>subbands</a:t>
            </a:r>
            <a:r>
              <a:rPr lang="en-US" dirty="0"/>
              <a:t> into compact 8-dimensional frequency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HQCM (8-qubit): </a:t>
            </a:r>
            <a:r>
              <a:rPr lang="en-US" dirty="0" err="1"/>
              <a:t>PennyLane</a:t>
            </a:r>
            <a:r>
              <a:rPr lang="en-US" dirty="0"/>
              <a:t> quantum circuit applies angle embedding + entangling layers → quantum expectation values [B, 8</a:t>
            </a:r>
            <a:r>
              <a:rPr lang="en-US" dirty="0" smtClean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42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System Architecture — QFE-COD </a:t>
            </a:r>
            <a:r>
              <a:rPr lang="en-US" dirty="0" smtClean="0"/>
              <a:t>Pipeline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9023" y="2411480"/>
            <a:ext cx="2935595" cy="39369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5709" y="2378095"/>
            <a:ext cx="77770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Stage 3 — Spatial Branch (Right path)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FPN + Mamba SSM blocks process F1–F4 into multi-scale pyramid P1–P4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Mamba-inspired State Space Model captures long-range spatial dependencies</a:t>
            </a:r>
          </a:p>
          <a:p>
            <a:r>
              <a:rPr lang="en-US" b="1" dirty="0"/>
              <a:t>Stage 4 — Fusion &amp; Decoding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Dual-Domain Fusion: merges quantum frequency embedding with P1 (finest spatial scale)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Q-</a:t>
            </a:r>
            <a:r>
              <a:rPr lang="en-US" dirty="0" err="1"/>
              <a:t>WaveKAN</a:t>
            </a:r>
            <a:r>
              <a:rPr lang="en-US" dirty="0"/>
              <a:t> Head: quantum-gated decoder with learnable wavelet-based KAN activations</a:t>
            </a:r>
          </a:p>
          <a:p>
            <a:r>
              <a:rPr lang="en-US" b="1" dirty="0"/>
              <a:t>Outputs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 mask — binary segmentation of camouflaged object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UNCERT map — pixel-level uncertainty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EDGE map — boundary/edge prediction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8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Dataset – COD10k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1818" y="2174895"/>
            <a:ext cx="777701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Overview</a:t>
            </a:r>
            <a:endParaRPr lang="en-US" dirty="0"/>
          </a:p>
          <a:p>
            <a:pPr lvl="1"/>
            <a:r>
              <a:rPr lang="en-US" dirty="0"/>
              <a:t>Largest and most comprehensive benchmark dataset for Camouflaged Object Detection</a:t>
            </a:r>
          </a:p>
          <a:p>
            <a:pPr lvl="1"/>
            <a:r>
              <a:rPr lang="en-US" dirty="0"/>
              <a:t>Contains 10,000 images spanning 78 camouflaged object categories</a:t>
            </a:r>
          </a:p>
          <a:p>
            <a:pPr lvl="1"/>
            <a:r>
              <a:rPr lang="en-US" dirty="0"/>
              <a:t>Covers both aquatic and terrestrial camouflage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Dataset Split</a:t>
            </a:r>
            <a:endParaRPr lang="en-US" dirty="0"/>
          </a:p>
          <a:p>
            <a:pPr lvl="1"/>
            <a:r>
              <a:rPr lang="en-US" dirty="0"/>
              <a:t>Train set: 6,000 images → CAM: 3,534 | </a:t>
            </a:r>
            <a:r>
              <a:rPr lang="en-US" dirty="0" err="1"/>
              <a:t>NonCAM</a:t>
            </a:r>
            <a:r>
              <a:rPr lang="en-US" dirty="0"/>
              <a:t>: 2,466</a:t>
            </a:r>
          </a:p>
          <a:p>
            <a:pPr lvl="1"/>
            <a:r>
              <a:rPr lang="en-US" dirty="0"/>
              <a:t>Test set: 4,000 images → CAM: 2,365 | </a:t>
            </a:r>
            <a:r>
              <a:rPr lang="en-US" dirty="0" err="1"/>
              <a:t>NonCAM</a:t>
            </a:r>
            <a:r>
              <a:rPr lang="en-US" dirty="0"/>
              <a:t>: 1,635</a:t>
            </a:r>
          </a:p>
          <a:p>
            <a:pPr lvl="1"/>
            <a:r>
              <a:rPr lang="en-US" dirty="0"/>
              <a:t>Class ratio approximately 59% CAM : 41% </a:t>
            </a:r>
            <a:r>
              <a:rPr lang="en-US" dirty="0" err="1"/>
              <a:t>NonCAM</a:t>
            </a:r>
            <a:r>
              <a:rPr lang="en-US" dirty="0"/>
              <a:t> (slight imbalance handled via binary labels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Preprocessing &amp; Augmentation</a:t>
            </a:r>
            <a:endParaRPr lang="en-US" dirty="0"/>
          </a:p>
          <a:p>
            <a:pPr lvl="1"/>
            <a:r>
              <a:rPr lang="en-US" dirty="0"/>
              <a:t>Images resized to 352×352 for training</a:t>
            </a:r>
          </a:p>
          <a:p>
            <a:pPr lvl="1"/>
            <a:r>
              <a:rPr lang="en-US" dirty="0"/>
              <a:t>Augmentation: random horizontal flip, color jitter, normalization</a:t>
            </a:r>
          </a:p>
          <a:p>
            <a:pPr lvl="1"/>
            <a:r>
              <a:rPr lang="en-US" dirty="0"/>
              <a:t>Binary label sanitization applied (labels mapped to {0, 1})</a:t>
            </a:r>
          </a:p>
          <a:p>
            <a:pPr lvl="1"/>
            <a:r>
              <a:rPr lang="en-US" dirty="0" err="1"/>
              <a:t>Dataloaders</a:t>
            </a:r>
            <a:r>
              <a:rPr lang="en-US" dirty="0"/>
              <a:t> rebuilt with safe binary labels before training</a:t>
            </a:r>
          </a:p>
          <a:p>
            <a:pPr lvl="2"/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018" y="3190153"/>
            <a:ext cx="4110182" cy="1644073"/>
          </a:xfrm>
        </p:spPr>
      </p:pic>
    </p:spTree>
    <p:extLst>
      <p:ext uri="{BB962C8B-B14F-4D97-AF65-F5344CB8AC3E}">
        <p14:creationId xmlns:p14="http://schemas.microsoft.com/office/powerpoint/2010/main" val="213052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Implementation Tools &amp; Software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4224695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/>
              <a:t>Hardware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GPU: NVIDIA CUDA-enabled (CUDA 12.8)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Framework: </a:t>
            </a:r>
            <a:r>
              <a:rPr lang="en-US" sz="2400" dirty="0" err="1"/>
              <a:t>PyTorch</a:t>
            </a:r>
            <a:r>
              <a:rPr lang="en-US" sz="2400" dirty="0"/>
              <a:t> 2.10.0+cu128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Platform: </a:t>
            </a:r>
            <a:r>
              <a:rPr lang="en-US" sz="2400" dirty="0" err="1"/>
              <a:t>Kaggle</a:t>
            </a:r>
            <a:r>
              <a:rPr lang="en-US" sz="2400" dirty="0"/>
              <a:t> cloud GPU environment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Batch size: 4 (GPU memory optimized)</a:t>
            </a:r>
          </a:p>
          <a:p>
            <a:r>
              <a:rPr lang="en-US" sz="2400" b="1" dirty="0"/>
              <a:t>Deep Learning Framework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 err="1" smtClean="0"/>
              <a:t>PyTorch</a:t>
            </a:r>
            <a:r>
              <a:rPr lang="en-US" sz="2100" dirty="0" smtClean="0"/>
              <a:t> 2.10.0 — primary model building, training, and inference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 err="1" smtClean="0"/>
              <a:t>torchvision</a:t>
            </a:r>
            <a:r>
              <a:rPr lang="en-US" sz="2100" dirty="0" smtClean="0"/>
              <a:t> — image transforms and preprocessing utilities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 smtClean="0"/>
              <a:t>CUDA </a:t>
            </a:r>
            <a:r>
              <a:rPr lang="en-US" sz="2100" dirty="0"/>
              <a:t>12.8 — GPU acceleration for model training</a:t>
            </a:r>
          </a:p>
          <a:p>
            <a:endParaRPr lang="en-US" sz="16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187415" y="2296178"/>
            <a:ext cx="5194583" cy="3956840"/>
          </a:xfrm>
        </p:spPr>
        <p:txBody>
          <a:bodyPr>
            <a:normAutofit fontScale="70000" lnSpcReduction="20000"/>
          </a:bodyPr>
          <a:lstStyle/>
          <a:p>
            <a:r>
              <a:rPr lang="en-US" sz="2300" b="1" dirty="0"/>
              <a:t>Backbone &amp; Baseline Models</a:t>
            </a:r>
            <a:endParaRPr lang="en-US" sz="23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PVTv2-B2 — Stage 1 CAM/</a:t>
            </a:r>
            <a:r>
              <a:rPr lang="en-US" sz="2000" dirty="0" err="1"/>
              <a:t>NonCAM</a:t>
            </a:r>
            <a:r>
              <a:rPr lang="en-US" sz="2000" dirty="0"/>
              <a:t> classifier backbone (24.98M </a:t>
            </a:r>
            <a:r>
              <a:rPr lang="en-US" sz="2000" dirty="0" err="1"/>
              <a:t>params</a:t>
            </a:r>
            <a:r>
              <a:rPr lang="en-US" sz="20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PVTv2-B4 — Stage 2 QFE-COD segmentation backbone (62.51M </a:t>
            </a:r>
            <a:r>
              <a:rPr lang="en-US" sz="2000" dirty="0" err="1"/>
              <a:t>params</a:t>
            </a:r>
            <a:r>
              <a:rPr lang="en-US" sz="20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SINetV2 — comparative baseline model (23.91M </a:t>
            </a:r>
            <a:r>
              <a:rPr lang="en-US" sz="2000" dirty="0" err="1"/>
              <a:t>params</a:t>
            </a:r>
            <a:r>
              <a:rPr lang="en-US" sz="2000" dirty="0"/>
              <a:t>)</a:t>
            </a:r>
          </a:p>
          <a:p>
            <a:r>
              <a:rPr lang="en-US" sz="2300" b="1" dirty="0"/>
              <a:t>Quantum Computing</a:t>
            </a:r>
            <a:endParaRPr lang="en-US" sz="23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PennyLane</a:t>
            </a:r>
            <a:r>
              <a:rPr lang="en-US" sz="2000" dirty="0"/>
              <a:t> (Xanadu AI) — differentiable quantum circuit simulation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8-qubit </a:t>
            </a:r>
            <a:r>
              <a:rPr lang="en-US" sz="2000" dirty="0" err="1"/>
              <a:t>variational</a:t>
            </a:r>
            <a:r>
              <a:rPr lang="en-US" sz="2000" dirty="0"/>
              <a:t> quantum circuit with angle embedding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4 layers of strongly entangling operations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Seamless </a:t>
            </a:r>
            <a:r>
              <a:rPr lang="en-US" sz="2000" dirty="0" err="1"/>
              <a:t>PyTorch</a:t>
            </a:r>
            <a:r>
              <a:rPr lang="en-US" sz="2000" dirty="0"/>
              <a:t> integration via </a:t>
            </a:r>
            <a:r>
              <a:rPr lang="en-US" sz="2000" dirty="0" err="1"/>
              <a:t>autograd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06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Implementation Tools &amp; Software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4224695"/>
          </a:xfrm>
        </p:spPr>
        <p:txBody>
          <a:bodyPr>
            <a:normAutofit fontScale="70000" lnSpcReduction="20000"/>
          </a:bodyPr>
          <a:lstStyle/>
          <a:p>
            <a:r>
              <a:rPr lang="en-US" sz="2300" b="1" dirty="0"/>
              <a:t>Stage 1 — CAM/</a:t>
            </a:r>
            <a:r>
              <a:rPr lang="en-US" sz="2300" b="1" dirty="0" err="1"/>
              <a:t>NonCAM</a:t>
            </a:r>
            <a:r>
              <a:rPr lang="en-US" sz="2300" b="1" dirty="0"/>
              <a:t> Classifier Results</a:t>
            </a:r>
            <a:endParaRPr lang="en-US" sz="23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 smtClean="0"/>
              <a:t>Total </a:t>
            </a:r>
            <a:r>
              <a:rPr lang="en-US" sz="2100" dirty="0"/>
              <a:t>epochs trained: 20 (early stopping patience: 7)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/>
              <a:t>Best validation accuracy: </a:t>
            </a:r>
            <a:r>
              <a:rPr lang="en-US" sz="2100" b="1" dirty="0"/>
              <a:t>94.23%</a:t>
            </a:r>
            <a:r>
              <a:rPr lang="en-US" sz="2100" dirty="0"/>
              <a:t> (Epoch 19)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/>
              <a:t>Final training accuracy: 99.23% | Final training loss: 0.0195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/>
              <a:t>Validation loss stabilized around 0.28 after Epoch 11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 smtClean="0"/>
              <a:t>Epoch </a:t>
            </a:r>
            <a:r>
              <a:rPr lang="en-US" sz="2100" dirty="0"/>
              <a:t>1: Train </a:t>
            </a:r>
            <a:r>
              <a:rPr lang="en-US" sz="2100" dirty="0" err="1"/>
              <a:t>acc</a:t>
            </a:r>
            <a:r>
              <a:rPr lang="en-US" sz="2100" dirty="0"/>
              <a:t>=82.98% → Val </a:t>
            </a:r>
            <a:r>
              <a:rPr lang="en-US" sz="2100" dirty="0" err="1"/>
              <a:t>acc</a:t>
            </a:r>
            <a:r>
              <a:rPr lang="en-US" sz="2100" dirty="0"/>
              <a:t>=91.03%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/>
              <a:t>Epoch 6: Train </a:t>
            </a:r>
            <a:r>
              <a:rPr lang="en-US" sz="2100" dirty="0" err="1"/>
              <a:t>acc</a:t>
            </a:r>
            <a:r>
              <a:rPr lang="en-US" sz="2100" dirty="0"/>
              <a:t>=94.55% → Val </a:t>
            </a:r>
            <a:r>
              <a:rPr lang="en-US" sz="2100" dirty="0" err="1"/>
              <a:t>acc</a:t>
            </a:r>
            <a:r>
              <a:rPr lang="en-US" sz="2100" dirty="0"/>
              <a:t>=93.30%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/>
              <a:t>Epoch 11: Train </a:t>
            </a:r>
            <a:r>
              <a:rPr lang="en-US" sz="2100" dirty="0" err="1"/>
              <a:t>acc</a:t>
            </a:r>
            <a:r>
              <a:rPr lang="en-US" sz="2100" dirty="0"/>
              <a:t>=97.53% → Val </a:t>
            </a:r>
            <a:r>
              <a:rPr lang="en-US" sz="2100" dirty="0" err="1"/>
              <a:t>acc</a:t>
            </a:r>
            <a:r>
              <a:rPr lang="en-US" sz="2100" dirty="0"/>
              <a:t>=94.10%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00" dirty="0"/>
              <a:t>Epoch 19: Train </a:t>
            </a:r>
            <a:r>
              <a:rPr lang="en-US" sz="2100" dirty="0" err="1"/>
              <a:t>acc</a:t>
            </a:r>
            <a:r>
              <a:rPr lang="en-US" sz="2100" dirty="0"/>
              <a:t>=99.23% → Val </a:t>
            </a:r>
            <a:r>
              <a:rPr lang="en-US" sz="2100" dirty="0" err="1"/>
              <a:t>acc</a:t>
            </a:r>
            <a:r>
              <a:rPr lang="en-US" sz="2100" dirty="0"/>
              <a:t>=</a:t>
            </a:r>
            <a:r>
              <a:rPr lang="en-US" sz="2100" b="1" dirty="0"/>
              <a:t>94.23%</a:t>
            </a:r>
            <a:r>
              <a:rPr lang="en-US" sz="2100" dirty="0"/>
              <a:t> ← Best saved</a:t>
            </a:r>
          </a:p>
          <a:p>
            <a:endParaRPr lang="en-US" sz="16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187415" y="2296178"/>
            <a:ext cx="5194583" cy="3956840"/>
          </a:xfrm>
        </p:spPr>
        <p:txBody>
          <a:bodyPr>
            <a:normAutofit fontScale="70000" lnSpcReduction="20000"/>
          </a:bodyPr>
          <a:lstStyle/>
          <a:p>
            <a:r>
              <a:rPr lang="en-US" sz="2300" b="1" dirty="0"/>
              <a:t>Stage 2 — QFE-COD Segmentation </a:t>
            </a:r>
            <a:r>
              <a:rPr lang="en-US" sz="2300" b="1" dirty="0" err="1"/>
              <a:t>ResultsTotal</a:t>
            </a:r>
            <a:r>
              <a:rPr lang="en-US" sz="2300" b="1" dirty="0"/>
              <a:t> epochs trained: 28 (best checkpoint saved</a:t>
            </a:r>
            <a:r>
              <a:rPr lang="en-US" sz="23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Early stopping patience: 10 epochs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i="1" dirty="0"/>
              <a:t>QFE-COD Best Checkpoint (Epoch 28)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/>
              <a:t>Dice: 0.7889</a:t>
            </a:r>
            <a:r>
              <a:rPr lang="en-US" sz="2000" dirty="0"/>
              <a:t> | </a:t>
            </a:r>
            <a:r>
              <a:rPr lang="en-US" sz="2000" b="1" dirty="0" err="1"/>
              <a:t>IoU</a:t>
            </a:r>
            <a:r>
              <a:rPr lang="en-US" sz="2000" b="1" dirty="0"/>
              <a:t>: 0.7402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i="1" dirty="0"/>
              <a:t>QFE-COD Progression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Epoch 1: Dice=0.5788 | </a:t>
            </a:r>
            <a:r>
              <a:rPr lang="en-US" sz="2000" dirty="0" err="1"/>
              <a:t>IoU</a:t>
            </a:r>
            <a:r>
              <a:rPr lang="en-US" sz="2000" dirty="0"/>
              <a:t>=0.5196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Epoch 6: Dice=0.7200 | </a:t>
            </a:r>
            <a:r>
              <a:rPr lang="en-US" sz="2000" dirty="0" err="1"/>
              <a:t>IoU</a:t>
            </a:r>
            <a:r>
              <a:rPr lang="en-US" sz="2000" dirty="0"/>
              <a:t>=0.6654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Epoch 13: Dice=0.7501 | </a:t>
            </a:r>
            <a:r>
              <a:rPr lang="en-US" sz="2000" dirty="0" err="1"/>
              <a:t>IoU</a:t>
            </a:r>
            <a:r>
              <a:rPr lang="en-US" sz="2000" dirty="0"/>
              <a:t>=0.6981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Epoch 22: Dice=0.7789 | </a:t>
            </a:r>
            <a:r>
              <a:rPr lang="en-US" sz="2000" dirty="0" err="1"/>
              <a:t>IoU</a:t>
            </a:r>
            <a:r>
              <a:rPr lang="en-US" sz="2000" dirty="0"/>
              <a:t>=0.7288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Epoch 28: Dice=</a:t>
            </a:r>
            <a:r>
              <a:rPr lang="en-US" sz="2000" b="1" dirty="0"/>
              <a:t>0.7889</a:t>
            </a:r>
            <a:r>
              <a:rPr lang="en-US" sz="2000" dirty="0"/>
              <a:t> | </a:t>
            </a:r>
            <a:r>
              <a:rPr lang="en-US" sz="2000" dirty="0" err="1"/>
              <a:t>IoU</a:t>
            </a:r>
            <a:r>
              <a:rPr lang="en-US" sz="2000" dirty="0"/>
              <a:t>=</a:t>
            </a:r>
            <a:r>
              <a:rPr lang="en-US" sz="2000" b="1" dirty="0"/>
              <a:t>0.7402</a:t>
            </a:r>
            <a:r>
              <a:rPr lang="en-US" sz="2000" dirty="0"/>
              <a:t> ← Best saved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21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818" y="2174895"/>
            <a:ext cx="77770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Stage 1 — Classifier</a:t>
            </a:r>
            <a:endParaRPr lang="en-US" dirty="0"/>
          </a:p>
          <a:p>
            <a:r>
              <a:rPr lang="en-US" dirty="0"/>
              <a:t>Predicts CAM or </a:t>
            </a:r>
            <a:r>
              <a:rPr lang="en-US" dirty="0" err="1"/>
              <a:t>NonCAM</a:t>
            </a:r>
            <a:r>
              <a:rPr lang="en-US" dirty="0"/>
              <a:t> per image</a:t>
            </a:r>
          </a:p>
          <a:p>
            <a:r>
              <a:rPr lang="en-US" dirty="0"/>
              <a:t>Best validation accuracy: </a:t>
            </a:r>
            <a:r>
              <a:rPr lang="en-US" b="1" dirty="0"/>
              <a:t>94.23%</a:t>
            </a:r>
            <a:endParaRPr lang="en-US" dirty="0"/>
          </a:p>
          <a:p>
            <a:r>
              <a:rPr lang="en-US" dirty="0"/>
              <a:t>Confusion matrix: 1924 TP | 1849 TN | 125 FP | 102 FN</a:t>
            </a:r>
          </a:p>
          <a:p>
            <a:r>
              <a:rPr lang="en-US" dirty="0"/>
              <a:t>Training loss: 0.38 → 0.019 over 20 epochs</a:t>
            </a:r>
          </a:p>
          <a:p>
            <a:r>
              <a:rPr lang="en-US" b="1" dirty="0"/>
              <a:t>Stage 2 — Segmentation</a:t>
            </a:r>
            <a:endParaRPr lang="en-US" dirty="0"/>
          </a:p>
          <a:p>
            <a:r>
              <a:rPr lang="en-US" dirty="0"/>
              <a:t>Produces 3 outputs per image: </a:t>
            </a:r>
          </a:p>
          <a:p>
            <a:pPr lvl="1"/>
            <a:r>
              <a:rPr lang="en-US" dirty="0"/>
              <a:t>SEG mask — object region</a:t>
            </a:r>
          </a:p>
          <a:p>
            <a:pPr lvl="1"/>
            <a:r>
              <a:rPr lang="en-US" dirty="0"/>
              <a:t>UNCERT map — uncertain boundary pixels</a:t>
            </a:r>
          </a:p>
          <a:p>
            <a:pPr lvl="1"/>
            <a:r>
              <a:rPr lang="en-US" dirty="0"/>
              <a:t>EDGE map — object contour</a:t>
            </a:r>
          </a:p>
          <a:p>
            <a:r>
              <a:rPr lang="en-US" dirty="0"/>
              <a:t>Best Dice: </a:t>
            </a:r>
            <a:r>
              <a:rPr lang="en-US" b="1" dirty="0"/>
              <a:t>0.7889</a:t>
            </a:r>
            <a:r>
              <a:rPr lang="en-US" dirty="0"/>
              <a:t> | Best </a:t>
            </a:r>
            <a:r>
              <a:rPr lang="en-US" dirty="0" err="1"/>
              <a:t>IoU</a:t>
            </a:r>
            <a:r>
              <a:rPr lang="en-US" dirty="0"/>
              <a:t>: </a:t>
            </a:r>
            <a:r>
              <a:rPr lang="en-US" b="1" dirty="0"/>
              <a:t>0.7402</a:t>
            </a:r>
            <a:r>
              <a:rPr lang="en-US" dirty="0"/>
              <a:t> (Epoch 28)</a:t>
            </a:r>
          </a:p>
          <a:p>
            <a:pPr lvl="2"/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432" y="2390402"/>
            <a:ext cx="5177768" cy="4134125"/>
          </a:xfrm>
        </p:spPr>
      </p:pic>
    </p:spTree>
    <p:extLst>
      <p:ext uri="{BB962C8B-B14F-4D97-AF65-F5344CB8AC3E}">
        <p14:creationId xmlns:p14="http://schemas.microsoft.com/office/powerpoint/2010/main" val="346828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818" y="2174895"/>
            <a:ext cx="77770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Stage 1 — Classifier</a:t>
            </a:r>
            <a:endParaRPr lang="en-US" dirty="0"/>
          </a:p>
          <a:p>
            <a:r>
              <a:rPr lang="en-US" dirty="0"/>
              <a:t>Predicts CAM or </a:t>
            </a:r>
            <a:r>
              <a:rPr lang="en-US" dirty="0" err="1"/>
              <a:t>NonCAM</a:t>
            </a:r>
            <a:r>
              <a:rPr lang="en-US" dirty="0"/>
              <a:t> per image</a:t>
            </a:r>
          </a:p>
          <a:p>
            <a:r>
              <a:rPr lang="en-US" dirty="0"/>
              <a:t>Best validation accuracy: </a:t>
            </a:r>
            <a:r>
              <a:rPr lang="en-US" b="1" dirty="0"/>
              <a:t>94.23%</a:t>
            </a:r>
            <a:endParaRPr lang="en-US" dirty="0"/>
          </a:p>
          <a:p>
            <a:r>
              <a:rPr lang="en-US" dirty="0"/>
              <a:t>Confusion matrix: 1924 TP | 1849 TN | 125 FP | 102 FN</a:t>
            </a:r>
          </a:p>
          <a:p>
            <a:r>
              <a:rPr lang="en-US" dirty="0"/>
              <a:t>Training loss: 0.38 → 0.019 over 20 epochs</a:t>
            </a:r>
          </a:p>
          <a:p>
            <a:r>
              <a:rPr lang="en-US" b="1" dirty="0"/>
              <a:t>Stage 2 — Segmentation</a:t>
            </a:r>
            <a:endParaRPr lang="en-US" dirty="0"/>
          </a:p>
          <a:p>
            <a:r>
              <a:rPr lang="en-US" dirty="0"/>
              <a:t>Produces 3 outputs per image: </a:t>
            </a:r>
          </a:p>
          <a:p>
            <a:pPr lvl="1"/>
            <a:r>
              <a:rPr lang="en-US" dirty="0"/>
              <a:t>SEG mask — object region</a:t>
            </a:r>
          </a:p>
          <a:p>
            <a:pPr lvl="1"/>
            <a:r>
              <a:rPr lang="en-US" dirty="0"/>
              <a:t>UNCERT map — uncertain boundary pixels</a:t>
            </a:r>
          </a:p>
          <a:p>
            <a:pPr lvl="1"/>
            <a:r>
              <a:rPr lang="en-US" dirty="0"/>
              <a:t>EDGE map — object contour</a:t>
            </a:r>
          </a:p>
          <a:p>
            <a:r>
              <a:rPr lang="en-US" dirty="0"/>
              <a:t>Best Dice: </a:t>
            </a:r>
            <a:r>
              <a:rPr lang="en-US" b="1" dirty="0"/>
              <a:t>0.7889</a:t>
            </a:r>
            <a:r>
              <a:rPr lang="en-US" dirty="0"/>
              <a:t> | Best </a:t>
            </a:r>
            <a:r>
              <a:rPr lang="en-US" dirty="0" err="1"/>
              <a:t>IoU</a:t>
            </a:r>
            <a:r>
              <a:rPr lang="en-US" dirty="0"/>
              <a:t>: </a:t>
            </a:r>
            <a:r>
              <a:rPr lang="en-US" b="1" dirty="0"/>
              <a:t>0.7402</a:t>
            </a:r>
            <a:r>
              <a:rPr lang="en-US" dirty="0"/>
              <a:t> (Epoch 28)</a:t>
            </a:r>
          </a:p>
          <a:p>
            <a:pPr lvl="2"/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432" y="2390402"/>
            <a:ext cx="5177768" cy="4134125"/>
          </a:xfrm>
        </p:spPr>
      </p:pic>
    </p:spTree>
    <p:extLst>
      <p:ext uri="{BB962C8B-B14F-4D97-AF65-F5344CB8AC3E}">
        <p14:creationId xmlns:p14="http://schemas.microsoft.com/office/powerpoint/2010/main" val="62017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764" y="2068946"/>
            <a:ext cx="1141614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Successful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QFE-COD effectively combines quantum-classical hybrid processing with frequency-domain analysis for camouflaged object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Modular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Three-stage architecture (classifier → QFE segmentation → evaluation) proved robust and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Quantum Signal Boost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HQCM frequency </a:t>
            </a:r>
            <a:r>
              <a:rPr lang="en-US" dirty="0" err="1" smtClean="0"/>
              <a:t>embeddings</a:t>
            </a:r>
            <a:r>
              <a:rPr lang="en-US" dirty="0" smtClean="0"/>
              <a:t> provided meaningful performance improvement over purely spatial baseline (SINetV2)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Enhanced </a:t>
            </a:r>
            <a:r>
              <a:rPr lang="en-US" b="1" dirty="0"/>
              <a:t>Boundaries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Q-</a:t>
            </a:r>
            <a:r>
              <a:rPr lang="en-US" dirty="0" err="1" smtClean="0"/>
              <a:t>WaveKAN</a:t>
            </a:r>
            <a:r>
              <a:rPr lang="en-US" dirty="0" smtClean="0"/>
              <a:t> head's learnable wavelet activations improved boundary delineation in texturally complex scenes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Practical </a:t>
            </a:r>
            <a:r>
              <a:rPr lang="en-US" b="1" dirty="0"/>
              <a:t>Demonstration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Framework demonstrates hybrid quantum-classical models can be integrated into deep vision pipelines using </a:t>
            </a:r>
            <a:r>
              <a:rPr lang="en-US" dirty="0" err="1"/>
              <a:t>PennyLane</a:t>
            </a:r>
            <a:r>
              <a:rPr lang="en-US" dirty="0"/>
              <a:t> + </a:t>
            </a:r>
            <a:r>
              <a:rPr lang="en-US" dirty="0" err="1"/>
              <a:t>PyTorch</a:t>
            </a:r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8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Future Enhancement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764" y="2068946"/>
            <a:ext cx="1141614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Dataset Expansion</a:t>
            </a:r>
            <a:endParaRPr lang="en-US" dirty="0"/>
          </a:p>
          <a:p>
            <a:pPr lvl="2"/>
            <a:r>
              <a:rPr lang="en-US" dirty="0"/>
              <a:t>Evaluate on additional COD benchmarks — CAMO, CHAMELEON, NC4K</a:t>
            </a:r>
          </a:p>
          <a:p>
            <a:pPr lvl="2"/>
            <a:r>
              <a:rPr lang="en-US" dirty="0"/>
              <a:t>Train on larger, more diverse camouflage datasets for better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Quantum Hardware</a:t>
            </a:r>
            <a:endParaRPr lang="en-US" dirty="0"/>
          </a:p>
          <a:p>
            <a:pPr lvl="2"/>
            <a:r>
              <a:rPr lang="en-US" dirty="0"/>
              <a:t>Deploy HQCM on real quantum hardware — IBM Quantum / </a:t>
            </a:r>
            <a:r>
              <a:rPr lang="en-US" dirty="0" err="1"/>
              <a:t>IonQ</a:t>
            </a:r>
            <a:endParaRPr lang="en-US" dirty="0"/>
          </a:p>
          <a:p>
            <a:pPr lvl="2"/>
            <a:r>
              <a:rPr lang="en-US" dirty="0"/>
              <a:t>Currently limited to </a:t>
            </a:r>
            <a:r>
              <a:rPr lang="en-US" dirty="0" err="1"/>
              <a:t>PennyLane</a:t>
            </a:r>
            <a:r>
              <a:rPr lang="en-US" dirty="0"/>
              <a:t> simulation — real hardware may unlock further gains</a:t>
            </a:r>
          </a:p>
          <a:p>
            <a:pPr lvl="2"/>
            <a:r>
              <a:rPr lang="en-US" dirty="0"/>
              <a:t>Scale from 8-qubit to larger quantum circuits as hardware matures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Optimization</a:t>
            </a:r>
            <a:endParaRPr lang="en-US" dirty="0"/>
          </a:p>
          <a:p>
            <a:pPr lvl="2"/>
            <a:r>
              <a:rPr lang="en-US" dirty="0"/>
              <a:t>Apply model pruning and quantization for faster inference</a:t>
            </a:r>
          </a:p>
          <a:p>
            <a:pPr lvl="2"/>
            <a:r>
              <a:rPr lang="en-US" dirty="0" err="1"/>
              <a:t>TensorRT</a:t>
            </a:r>
            <a:r>
              <a:rPr lang="en-US" dirty="0"/>
              <a:t> / ONNX export for edge deployment</a:t>
            </a:r>
          </a:p>
          <a:p>
            <a:pPr lvl="2"/>
            <a:r>
              <a:rPr lang="en-US" dirty="0"/>
              <a:t>Reduce model size from 62.51M parameters without sacrificing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Extended Applications</a:t>
            </a:r>
            <a:endParaRPr lang="en-US" dirty="0"/>
          </a:p>
          <a:p>
            <a:pPr lvl="2"/>
            <a:r>
              <a:rPr lang="en-US" dirty="0"/>
              <a:t>Medical imaging — polyp detection, lesion segmentation</a:t>
            </a:r>
          </a:p>
          <a:p>
            <a:pPr lvl="2"/>
            <a:r>
              <a:rPr lang="en-US" dirty="0"/>
              <a:t>Industrial defect detection under camouflage-like conditions</a:t>
            </a:r>
          </a:p>
          <a:p>
            <a:pPr lvl="2"/>
            <a:r>
              <a:rPr lang="en-US" dirty="0"/>
              <a:t>Military target detection in complex backgrounds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5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764" y="2068946"/>
            <a:ext cx="114161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Technical Outcomes</a:t>
            </a:r>
            <a:endParaRPr lang="en-US" dirty="0"/>
          </a:p>
          <a:p>
            <a:r>
              <a:rPr lang="en-US" dirty="0"/>
              <a:t>Built a functional 3-stage COD pipeline — classifier → segmentation → evaluation</a:t>
            </a:r>
          </a:p>
          <a:p>
            <a:r>
              <a:rPr lang="en-US" dirty="0"/>
              <a:t>Achieved Dice = </a:t>
            </a:r>
            <a:r>
              <a:rPr lang="en-US" b="1" dirty="0"/>
              <a:t>0.7889</a:t>
            </a:r>
            <a:r>
              <a:rPr lang="en-US" dirty="0"/>
              <a:t>, </a:t>
            </a:r>
            <a:r>
              <a:rPr lang="en-US" dirty="0" err="1"/>
              <a:t>IoU</a:t>
            </a:r>
            <a:r>
              <a:rPr lang="en-US" dirty="0"/>
              <a:t> = </a:t>
            </a:r>
            <a:r>
              <a:rPr lang="en-US" b="1" dirty="0"/>
              <a:t>0.7402</a:t>
            </a:r>
            <a:r>
              <a:rPr lang="en-US" dirty="0"/>
              <a:t> on COD10K-v3 test set</a:t>
            </a:r>
          </a:p>
          <a:p>
            <a:r>
              <a:rPr lang="en-US" dirty="0"/>
              <a:t>Outperformed SINetV2 baseline by </a:t>
            </a:r>
            <a:r>
              <a:rPr lang="en-US" b="1" dirty="0"/>
              <a:t>+0.10 Dice</a:t>
            </a:r>
            <a:r>
              <a:rPr lang="en-US" dirty="0"/>
              <a:t> (~14.8% relative improvement)</a:t>
            </a:r>
          </a:p>
          <a:p>
            <a:r>
              <a:rPr lang="en-US" dirty="0"/>
              <a:t>Deployed interactive </a:t>
            </a:r>
            <a:r>
              <a:rPr lang="en-US" dirty="0" err="1"/>
              <a:t>Gradio</a:t>
            </a:r>
            <a:r>
              <a:rPr lang="en-US" dirty="0"/>
              <a:t> dashboard for real-time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Academic Outcomes</a:t>
            </a:r>
            <a:endParaRPr lang="en-US" dirty="0"/>
          </a:p>
          <a:p>
            <a:r>
              <a:rPr lang="en-US" dirty="0"/>
              <a:t>Demonstrated practical integration of quantum circuits in a deep vision pipeline</a:t>
            </a:r>
          </a:p>
          <a:p>
            <a:r>
              <a:rPr lang="en-US" dirty="0"/>
              <a:t>Validated that frequency-domain features improve camouflaged object detection</a:t>
            </a:r>
          </a:p>
          <a:p>
            <a:r>
              <a:rPr lang="en-US" dirty="0"/>
              <a:t>Produced comprehensive project report with ablation analysis and diagnostics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8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764" y="2068946"/>
            <a:ext cx="114161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Technical Outcomes</a:t>
            </a:r>
            <a:endParaRPr lang="en-US" dirty="0"/>
          </a:p>
          <a:p>
            <a:r>
              <a:rPr lang="en-US" dirty="0"/>
              <a:t>Built a functional 3-stage COD pipeline — classifier → segmentation → evaluation</a:t>
            </a:r>
          </a:p>
          <a:p>
            <a:r>
              <a:rPr lang="en-US" dirty="0"/>
              <a:t>Achieved Dice = </a:t>
            </a:r>
            <a:r>
              <a:rPr lang="en-US" b="1" dirty="0"/>
              <a:t>0.7889</a:t>
            </a:r>
            <a:r>
              <a:rPr lang="en-US" dirty="0"/>
              <a:t>, </a:t>
            </a:r>
            <a:r>
              <a:rPr lang="en-US" dirty="0" err="1"/>
              <a:t>IoU</a:t>
            </a:r>
            <a:r>
              <a:rPr lang="en-US" dirty="0"/>
              <a:t> = </a:t>
            </a:r>
            <a:r>
              <a:rPr lang="en-US" b="1" dirty="0"/>
              <a:t>0.7402</a:t>
            </a:r>
            <a:r>
              <a:rPr lang="en-US" dirty="0"/>
              <a:t> on COD10K-v3 test set</a:t>
            </a:r>
          </a:p>
          <a:p>
            <a:r>
              <a:rPr lang="en-US" dirty="0"/>
              <a:t>Outperformed SINetV2 baseline by </a:t>
            </a:r>
            <a:r>
              <a:rPr lang="en-US" b="1" dirty="0"/>
              <a:t>+0.10 Dice</a:t>
            </a:r>
            <a:r>
              <a:rPr lang="en-US" dirty="0"/>
              <a:t> (~14.8% relative improvement)</a:t>
            </a:r>
          </a:p>
          <a:p>
            <a:r>
              <a:rPr lang="en-US" dirty="0"/>
              <a:t>Deployed interactive </a:t>
            </a:r>
            <a:r>
              <a:rPr lang="en-US" dirty="0" err="1"/>
              <a:t>Gradio</a:t>
            </a:r>
            <a:r>
              <a:rPr lang="en-US" dirty="0"/>
              <a:t> dashboard for real-time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Academic Outcomes</a:t>
            </a:r>
            <a:endParaRPr lang="en-US" dirty="0"/>
          </a:p>
          <a:p>
            <a:r>
              <a:rPr lang="en-US" dirty="0"/>
              <a:t>Demonstrated practical integration of quantum circuits in a deep vision pipeline</a:t>
            </a:r>
          </a:p>
          <a:p>
            <a:r>
              <a:rPr lang="en-US" dirty="0"/>
              <a:t>Validated that frequency-domain features improve camouflaged object detection</a:t>
            </a:r>
          </a:p>
          <a:p>
            <a:r>
              <a:rPr lang="en-US" dirty="0"/>
              <a:t>Produced comprehensive project report with ablation analysis and diagnostics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9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764" y="2068946"/>
            <a:ext cx="114161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Technical Outcomes</a:t>
            </a:r>
            <a:endParaRPr lang="en-US" dirty="0"/>
          </a:p>
          <a:p>
            <a:r>
              <a:rPr lang="en-US" dirty="0"/>
              <a:t>Built a functional 3-stage COD pipeline — classifier → segmentation → evaluation</a:t>
            </a:r>
          </a:p>
          <a:p>
            <a:r>
              <a:rPr lang="en-US" dirty="0"/>
              <a:t>Achieved Dice = </a:t>
            </a:r>
            <a:r>
              <a:rPr lang="en-US" b="1" dirty="0"/>
              <a:t>0.7889</a:t>
            </a:r>
            <a:r>
              <a:rPr lang="en-US" dirty="0"/>
              <a:t>, </a:t>
            </a:r>
            <a:r>
              <a:rPr lang="en-US" dirty="0" err="1"/>
              <a:t>IoU</a:t>
            </a:r>
            <a:r>
              <a:rPr lang="en-US" dirty="0"/>
              <a:t> = </a:t>
            </a:r>
            <a:r>
              <a:rPr lang="en-US" b="1" dirty="0"/>
              <a:t>0.7402</a:t>
            </a:r>
            <a:r>
              <a:rPr lang="en-US" dirty="0"/>
              <a:t> on COD10K-v3 test set</a:t>
            </a:r>
          </a:p>
          <a:p>
            <a:r>
              <a:rPr lang="en-US" dirty="0"/>
              <a:t>Outperformed SINetV2 baseline by </a:t>
            </a:r>
            <a:r>
              <a:rPr lang="en-US" b="1" dirty="0"/>
              <a:t>+0.10 Dice</a:t>
            </a:r>
            <a:r>
              <a:rPr lang="en-US" dirty="0"/>
              <a:t> (~14.8% relative improvement)</a:t>
            </a:r>
          </a:p>
          <a:p>
            <a:r>
              <a:rPr lang="en-US" dirty="0"/>
              <a:t>Deployed interactive </a:t>
            </a:r>
            <a:r>
              <a:rPr lang="en-US" dirty="0" err="1"/>
              <a:t>Gradio</a:t>
            </a:r>
            <a:r>
              <a:rPr lang="en-US" dirty="0"/>
              <a:t> dashboard for real-time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Academic Outcomes</a:t>
            </a:r>
            <a:endParaRPr lang="en-US" dirty="0"/>
          </a:p>
          <a:p>
            <a:r>
              <a:rPr lang="en-US" dirty="0"/>
              <a:t>Demonstrated practical integration of quantum circuits in a deep vision pipeline</a:t>
            </a:r>
          </a:p>
          <a:p>
            <a:r>
              <a:rPr lang="en-US" dirty="0"/>
              <a:t>Validated that frequency-domain features improve camouflaged object detection</a:t>
            </a:r>
          </a:p>
          <a:p>
            <a:r>
              <a:rPr lang="en-US" dirty="0"/>
              <a:t>Produced comprehensive project report with ablation analysis and diagnostics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47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44" y="179333"/>
            <a:ext cx="11823401" cy="15594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68946"/>
            <a:ext cx="114161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Camouflaged Object Detection</a:t>
            </a: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Fan, D.-P. et al. — </a:t>
            </a:r>
            <a:r>
              <a:rPr lang="en-US" i="1" dirty="0"/>
              <a:t>Camouflaged Object Detection</a:t>
            </a:r>
            <a:r>
              <a:rPr lang="en-US" dirty="0"/>
              <a:t> — CVPR 2020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Fan, D.-P. et al. — </a:t>
            </a:r>
            <a:r>
              <a:rPr lang="en-US" i="1" dirty="0"/>
              <a:t>Concealed Object Detection</a:t>
            </a:r>
            <a:r>
              <a:rPr lang="en-US" dirty="0"/>
              <a:t> — IEEE TPAMI 2022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Pang, Y. et al. — </a:t>
            </a:r>
            <a:r>
              <a:rPr lang="en-US" i="1" dirty="0" err="1"/>
              <a:t>ZoomNeXt</a:t>
            </a:r>
            <a:r>
              <a:rPr lang="en-US" i="1" dirty="0"/>
              <a:t>: Unified Collaborative Pyramid Network for COD</a:t>
            </a:r>
            <a:r>
              <a:rPr lang="en-US" dirty="0"/>
              <a:t> — IEEE TPAMI 2024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Zhou, T. et al. — </a:t>
            </a:r>
            <a:r>
              <a:rPr lang="en-US" i="1" dirty="0"/>
              <a:t>Feature Aggregation and Propagation Network for COD</a:t>
            </a:r>
            <a:r>
              <a:rPr lang="en-US" dirty="0"/>
              <a:t> — IEEE TIP 2022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Li, Y. et al. — </a:t>
            </a:r>
            <a:r>
              <a:rPr lang="en-US" i="1" dirty="0" err="1"/>
              <a:t>FindNet</a:t>
            </a:r>
            <a:r>
              <a:rPr lang="en-US" i="1" dirty="0"/>
              <a:t>: Boundary-and-Texture Enhancement for COD</a:t>
            </a:r>
            <a:r>
              <a:rPr lang="en-US" dirty="0"/>
              <a:t> — IEEE TIP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Backbone &amp; Feature </a:t>
            </a:r>
            <a:r>
              <a:rPr lang="en-US" b="1" dirty="0" smtClean="0"/>
              <a:t>Extraction</a:t>
            </a:r>
            <a:endParaRPr lang="en-US" dirty="0" smtClean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 smtClean="0"/>
              <a:t>Wang</a:t>
            </a:r>
            <a:r>
              <a:rPr lang="en-US" dirty="0"/>
              <a:t>, W. et al. — </a:t>
            </a:r>
            <a:r>
              <a:rPr lang="en-US" i="1" dirty="0"/>
              <a:t>PVTv2: Improved Baselines with Pyramid Vision Transformer</a:t>
            </a:r>
            <a:r>
              <a:rPr lang="en-US" dirty="0"/>
              <a:t> — </a:t>
            </a:r>
            <a:r>
              <a:rPr lang="en-US" dirty="0" err="1"/>
              <a:t>arXiv</a:t>
            </a:r>
            <a:r>
              <a:rPr lang="en-US" dirty="0"/>
              <a:t> 2021 7. Lin, T.-Y. et al. — </a:t>
            </a:r>
            <a:r>
              <a:rPr lang="en-US" i="1" dirty="0"/>
              <a:t>Feature Pyramid Networks for Object Detection</a:t>
            </a:r>
            <a:r>
              <a:rPr lang="en-US" dirty="0"/>
              <a:t> — CVPR 2017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Quantum Machine </a:t>
            </a:r>
            <a:r>
              <a:rPr lang="en-US" b="1" dirty="0" smtClean="0"/>
              <a:t>Learning</a:t>
            </a:r>
            <a:endParaRPr lang="en-US" dirty="0" smtClean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 err="1" smtClean="0"/>
              <a:t>Bergholm</a:t>
            </a:r>
            <a:r>
              <a:rPr lang="en-US" dirty="0"/>
              <a:t>, V. et al. — </a:t>
            </a:r>
            <a:r>
              <a:rPr lang="en-US" i="1" dirty="0" err="1"/>
              <a:t>PennyLane</a:t>
            </a:r>
            <a:r>
              <a:rPr lang="en-US" i="1" dirty="0"/>
              <a:t>: Automatic Differentiation of Hybrid Quantum-Classical Computations</a:t>
            </a:r>
            <a:r>
              <a:rPr lang="en-US" dirty="0"/>
              <a:t> — </a:t>
            </a:r>
            <a:r>
              <a:rPr lang="en-US" dirty="0" err="1"/>
              <a:t>arXiv</a:t>
            </a:r>
            <a:r>
              <a:rPr lang="en-US" dirty="0"/>
              <a:t> 2018 9. </a:t>
            </a:r>
            <a:r>
              <a:rPr lang="en-US" dirty="0" err="1"/>
              <a:t>Cerezo</a:t>
            </a:r>
            <a:r>
              <a:rPr lang="en-US" dirty="0"/>
              <a:t>, M. et al. — </a:t>
            </a:r>
            <a:r>
              <a:rPr lang="en-US" i="1" dirty="0" err="1"/>
              <a:t>Variational</a:t>
            </a:r>
            <a:r>
              <a:rPr lang="en-US" i="1" dirty="0"/>
              <a:t> Quantum Algorithms</a:t>
            </a:r>
            <a:r>
              <a:rPr lang="en-US" dirty="0"/>
              <a:t> — Nature Reviews Physics 2021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8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Literature Review</a:t>
            </a:r>
            <a:endParaRPr lang="en-US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7090" y="2159986"/>
            <a:ext cx="905363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(CVPR 2020) — first COD framework + COD10K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SINetV2 (TPAMI 2022) — added NCD + GRA modules, Dice ~0.82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FAPNet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(2022) — multi-scale feature aggregation for boundary refinement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(2023) — boundary and texture enhancement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ZoomNeXt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(2024) — zoom-in/out pyramid network for multi-scale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Transformer-Based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PVTv2 (2021) — pyramid vision transformer, used as backbone in QFE-COD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VST (2021) — vision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transformer for dense COD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ERPNet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edge-guided recurrent positioning with transformer features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 Domain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DCT-based methods — capture mid-frequency texture differences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Wavelet segmentation —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Daubechies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subbands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 edge transitions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insight: camouflaged objects differ most in mid-frequency, not spatial domain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Boundary-Aware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602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6">
            <a:extLst>
              <a:ext uri="{FF2B5EF4-FFF2-40B4-BE49-F238E27FC236}">
                <a16:creationId xmlns:a16="http://schemas.microsoft.com/office/drawing/2014/main" xmlns="" id="{E5A10C92-5805-4C39-9BF6-507F3B9661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xmlns="" id="{FB5DBD6C-E8A8-B349-AC85-61C44AAEA0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328" r="3697" b="-1"/>
          <a:stretch/>
        </p:blipFill>
        <p:spPr>
          <a:xfrm>
            <a:off x="-1" y="-1"/>
            <a:ext cx="12203151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C2CC41E-4EEC-4D67-B433-E1CDC58798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-11153"/>
            <a:ext cx="12192001" cy="6880304"/>
          </a:xfrm>
          <a:prstGeom prst="rect">
            <a:avLst/>
          </a:pr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2">
            <a:extLst>
              <a:ext uri="{FF2B5EF4-FFF2-40B4-BE49-F238E27FC236}">
                <a16:creationId xmlns:a16="http://schemas.microsoft.com/office/drawing/2014/main" xmlns="" id="{B114AB90-13F9-48EF-BFF7-7634459AAF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25094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66081D-517B-5D43-A7B4-E67DDEDC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902200"/>
            <a:ext cx="10572000" cy="6948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000" dirty="0"/>
              <a:t>Thank You</a:t>
            </a:r>
            <a:endParaRPr lang="en-US" sz="4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D219505-9D7D-47EE-B8DA-D2301EBF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01" y="5594110"/>
            <a:ext cx="10572000" cy="4349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someone@example</a:t>
            </a:r>
            <a:r>
              <a:rPr lang="en-US" dirty="0"/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1415831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8F9A98-A741-4930-A3C3-25DABF74C1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507FE6-F3A1-4DF8-A915-6F00F21B0B27}">
  <ds:schemaRefs>
    <ds:schemaRef ds:uri="http://purl.org/dc/terms/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AA7694F-727A-4E93-AD9E-902B06C163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Agency design</Template>
  <TotalTime>0</TotalTime>
  <Words>1717</Words>
  <Application>Microsoft Office PowerPoint</Application>
  <PresentationFormat>Widescreen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Wingdings</vt:lpstr>
      <vt:lpstr>Wingdings 2</vt:lpstr>
      <vt:lpstr>Quotable</vt:lpstr>
      <vt:lpstr>QFE-COD: Camouflaged Object Detection Using Quantum Frequency Enhancement with Q-WaveKAN-Based Feature Learning </vt:lpstr>
      <vt:lpstr> Synopsis</vt:lpstr>
      <vt:lpstr> Introduction</vt:lpstr>
      <vt:lpstr> System Architecture — QFE-COD Pipeline</vt:lpstr>
      <vt:lpstr> System Architecture — QFE-COD Pipeline</vt:lpstr>
      <vt:lpstr>Dataset – COD10k</vt:lpstr>
      <vt:lpstr>Implementation Tools &amp; Software</vt:lpstr>
      <vt:lpstr>Implementation Tools &amp; Software</vt:lpstr>
      <vt:lpstr>Output</vt:lpstr>
      <vt:lpstr>Output</vt:lpstr>
      <vt:lpstr>Conclusion</vt:lpstr>
      <vt:lpstr>Future Enhancement</vt:lpstr>
      <vt:lpstr>Outcome</vt:lpstr>
      <vt:lpstr>Outcome</vt:lpstr>
      <vt:lpstr>Outcome</vt:lpstr>
      <vt:lpstr>Outcome</vt:lpstr>
      <vt:lpstr>Literature Review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2026-04-27T18:33:04Z</dcterms:created>
  <dcterms:modified xsi:type="dcterms:W3CDTF">2026-04-27T19:09:02Z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